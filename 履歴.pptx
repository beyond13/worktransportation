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embedTrueTypeFonts="1" saveSubsetFonts="1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60" r:id="rId2"/>
  </p:sldIdLst>
  <p:sldSz cx="10688638" cy="7562850"/>
  <p:notesSz cx="6858000" cy="9144000"/>
  <p:embeddedFontLst>
    <p:embeddedFont>
      <p:font typeface="BIZ UDPゴシック" panose="020B0400000000000000" pitchFamily="50" charset="-128"/>
      <p:regular r:id="rId5"/>
      <p:bold r:id="rId6"/>
    </p:embeddedFont>
    <p:embeddedFont>
      <p:font typeface="Helvetica Neue" panose="020B0600070205080204" charset="0"/>
      <p:regular r:id="rId7"/>
      <p:bold r:id="rId8"/>
      <p:italic r:id="rId9"/>
      <p:boldItalic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333">
          <p15:clr>
            <a:srgbClr val="A4A3A4"/>
          </p15:clr>
        </p15:guide>
        <p15:guide id="2" orient="horz" pos="4255">
          <p15:clr>
            <a:srgbClr val="A4A3A4"/>
          </p15:clr>
        </p15:guide>
        <p15:guide id="3" pos="6294">
          <p15:clr>
            <a:srgbClr val="A4A3A4"/>
          </p15:clr>
        </p15:guide>
        <p15:guide id="4" pos="1013">
          <p15:clr>
            <a:srgbClr val="A4A3A4"/>
          </p15:clr>
        </p15:guide>
        <p15:guide id="5" pos="336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3" roundtripDataSignature="AMtx7mgpCrCTJSK1kc1vYz6wblQVmuw4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テーマ スタイル 1 - アクセント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テーマ スタイル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中間スタイル 3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ABFCF23-3B69-468F-B69F-88F6DE6A72F2}" styleName="中間スタイル 1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A111915-BE36-4E01-A7E5-04B1672EAD32}" styleName="淡色スタイル 2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FD0F851-EC5A-4D38-B0AD-8093EC10F338}" styleName="淡色スタイル 1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464" y="96"/>
      </p:cViewPr>
      <p:guideLst>
        <p:guide orient="horz" pos="2333"/>
        <p:guide orient="horz" pos="4255"/>
        <p:guide pos="6294"/>
        <p:guide pos="1013"/>
        <p:guide pos="336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3" Type="http://schemas.openxmlformats.org/officeDocument/2006/relationships/notesMaster" Target="notesMasters/notesMaster1.xml"/><Relationship Id="rId76" Type="http://schemas.openxmlformats.org/officeDocument/2006/relationships/theme" Target="theme/theme1.xml"/><Relationship Id="rId7" Type="http://schemas.openxmlformats.org/officeDocument/2006/relationships/font" Target="fonts/font3.fntdata"/><Relationship Id="rId2" Type="http://schemas.openxmlformats.org/officeDocument/2006/relationships/slide" Target="slides/slide1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74" Type="http://schemas.openxmlformats.org/officeDocument/2006/relationships/presProps" Target="presProps.xml"/><Relationship Id="rId5" Type="http://schemas.openxmlformats.org/officeDocument/2006/relationships/font" Target="fonts/font1.fntdata"/><Relationship Id="rId10" Type="http://schemas.openxmlformats.org/officeDocument/2006/relationships/font" Target="fonts/font6.fntdata"/><Relationship Id="rId73" Type="http://customschemas.google.com/relationships/presentationmetadata" Target="metadata"/><Relationship Id="rId4" Type="http://schemas.openxmlformats.org/officeDocument/2006/relationships/handoutMaster" Target="handoutMasters/handoutMaster1.xml"/><Relationship Id="rId9" Type="http://schemas.openxmlformats.org/officeDocument/2006/relationships/font" Target="fonts/font5.fntdata"/><Relationship Id="rId7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1BC80E-D6B8-4B38-A92B-5A3040185C3F}" type="datetimeFigureOut">
              <a:rPr kumimoji="1" lang="ja-JP" altLang="en-US" smtClean="0"/>
              <a:t>2026/8/21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32059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358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358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358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358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358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358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358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358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358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358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358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358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358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358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358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358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06475" y="685800"/>
            <a:ext cx="48450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54"/>
              </a:spcBef>
              <a:spcAft>
                <a:spcPts val="0"/>
              </a:spcAft>
              <a:buSzPts val="1400"/>
              <a:buNone/>
              <a:defRPr sz="1179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354"/>
              </a:spcBef>
              <a:spcAft>
                <a:spcPts val="0"/>
              </a:spcAft>
              <a:buSzPts val="1400"/>
              <a:buNone/>
              <a:defRPr sz="1179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54"/>
              </a:spcBef>
              <a:spcAft>
                <a:spcPts val="0"/>
              </a:spcAft>
              <a:buSzPts val="1400"/>
              <a:buNone/>
              <a:defRPr sz="1179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54"/>
              </a:spcBef>
              <a:spcAft>
                <a:spcPts val="0"/>
              </a:spcAft>
              <a:buSzPts val="1400"/>
              <a:buNone/>
              <a:defRPr sz="1179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54"/>
              </a:spcBef>
              <a:spcAft>
                <a:spcPts val="0"/>
              </a:spcAft>
              <a:buSzPts val="1400"/>
              <a:buNone/>
              <a:defRPr sz="1179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358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358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358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358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358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358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358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358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F62E3C4F-2E20-910E-B4E8-3B8A3034A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>
            <a:extLst>
              <a:ext uri="{FF2B5EF4-FFF2-40B4-BE49-F238E27FC236}">
                <a16:creationId xmlns:a16="http://schemas.microsoft.com/office/drawing/2014/main" id="{A0F184E5-1C70-CF6D-2F0A-9CEB09E20A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54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2:notes">
            <a:extLst>
              <a:ext uri="{FF2B5EF4-FFF2-40B4-BE49-F238E27FC236}">
                <a16:creationId xmlns:a16="http://schemas.microsoft.com/office/drawing/2014/main" id="{76B807FE-913E-660D-1B28-CE7FC5F62A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06475" y="685800"/>
            <a:ext cx="48450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9615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コンテンツ">
  <p:cSld name="タイトルとコンテンツ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body" idx="1"/>
          </p:nvPr>
        </p:nvSpPr>
        <p:spPr>
          <a:xfrm>
            <a:off x="592319" y="1169331"/>
            <a:ext cx="9504000" cy="55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70"/>
              </a:spcBef>
              <a:spcAft>
                <a:spcPts val="0"/>
              </a:spcAft>
              <a:buSzPts val="1400"/>
              <a:buNone/>
              <a:defRPr sz="13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70"/>
              </a:spcBef>
              <a:spcAft>
                <a:spcPts val="0"/>
              </a:spcAft>
              <a:buSzPts val="1400"/>
              <a:buNone/>
              <a:defRPr sz="13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270"/>
              </a:spcBef>
              <a:spcAft>
                <a:spcPts val="0"/>
              </a:spcAft>
              <a:buSzPts val="1400"/>
              <a:buNone/>
              <a:defRPr sz="13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270"/>
              </a:spcBef>
              <a:spcAft>
                <a:spcPts val="0"/>
              </a:spcAft>
              <a:buSzPts val="1400"/>
              <a:buNone/>
              <a:defRPr sz="13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223"/>
              </a:spcBef>
              <a:spcAft>
                <a:spcPts val="0"/>
              </a:spcAft>
              <a:buSzPts val="1400"/>
              <a:buNone/>
              <a:defRPr sz="11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223"/>
              </a:spcBef>
              <a:spcAft>
                <a:spcPts val="0"/>
              </a:spcAft>
              <a:buSzPts val="1400"/>
              <a:buNone/>
              <a:defRPr sz="11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223"/>
              </a:spcBef>
              <a:spcAft>
                <a:spcPts val="0"/>
              </a:spcAft>
              <a:buSzPts val="1400"/>
              <a:buNone/>
              <a:defRPr sz="11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223"/>
              </a:spcBef>
              <a:spcAft>
                <a:spcPts val="0"/>
              </a:spcAft>
              <a:buSzPts val="1400"/>
              <a:buNone/>
              <a:defRPr sz="11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252000" y="252000"/>
            <a:ext cx="72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つのコンテンツ">
  <p:cSld name="2 つのコンテンツ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>
            <a:spLocks noGrp="1"/>
          </p:cNvSpPr>
          <p:nvPr>
            <p:ph type="body" idx="1"/>
          </p:nvPr>
        </p:nvSpPr>
        <p:spPr>
          <a:xfrm>
            <a:off x="589964" y="1169331"/>
            <a:ext cx="4573180" cy="55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70"/>
              </a:spcBef>
              <a:spcAft>
                <a:spcPts val="0"/>
              </a:spcAft>
              <a:buSzPts val="1400"/>
              <a:buNone/>
              <a:defRPr sz="13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70"/>
              </a:spcBef>
              <a:spcAft>
                <a:spcPts val="0"/>
              </a:spcAft>
              <a:buSzPts val="1400"/>
              <a:buNone/>
              <a:defRPr sz="13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270"/>
              </a:spcBef>
              <a:spcAft>
                <a:spcPts val="0"/>
              </a:spcAft>
              <a:buSzPts val="1400"/>
              <a:buNone/>
              <a:defRPr sz="13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270"/>
              </a:spcBef>
              <a:spcAft>
                <a:spcPts val="0"/>
              </a:spcAft>
              <a:buSzPts val="1400"/>
              <a:buNone/>
              <a:defRPr sz="13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18"/>
              </a:spcBef>
              <a:spcAft>
                <a:spcPts val="0"/>
              </a:spcAft>
              <a:buSzPts val="1400"/>
              <a:buNone/>
              <a:defRPr sz="159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18"/>
              </a:spcBef>
              <a:spcAft>
                <a:spcPts val="0"/>
              </a:spcAft>
              <a:buSzPts val="1400"/>
              <a:buNone/>
              <a:defRPr sz="159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18"/>
              </a:spcBef>
              <a:spcAft>
                <a:spcPts val="0"/>
              </a:spcAft>
              <a:buSzPts val="1400"/>
              <a:buNone/>
              <a:defRPr sz="159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18"/>
              </a:spcBef>
              <a:spcAft>
                <a:spcPts val="0"/>
              </a:spcAft>
              <a:buSzPts val="1400"/>
              <a:buNone/>
              <a:defRPr sz="159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body" idx="2"/>
          </p:nvPr>
        </p:nvSpPr>
        <p:spPr>
          <a:xfrm>
            <a:off x="5530639" y="1169331"/>
            <a:ext cx="4573180" cy="55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70"/>
              </a:spcBef>
              <a:spcAft>
                <a:spcPts val="0"/>
              </a:spcAft>
              <a:buSzPts val="1400"/>
              <a:buNone/>
              <a:defRPr sz="13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70"/>
              </a:spcBef>
              <a:spcAft>
                <a:spcPts val="0"/>
              </a:spcAft>
              <a:buSzPts val="1400"/>
              <a:buNone/>
              <a:defRPr sz="13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270"/>
              </a:spcBef>
              <a:spcAft>
                <a:spcPts val="0"/>
              </a:spcAft>
              <a:buSzPts val="1400"/>
              <a:buNone/>
              <a:defRPr sz="13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270"/>
              </a:spcBef>
              <a:spcAft>
                <a:spcPts val="0"/>
              </a:spcAft>
              <a:buSzPts val="1400"/>
              <a:buNone/>
              <a:defRPr sz="13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18"/>
              </a:spcBef>
              <a:spcAft>
                <a:spcPts val="0"/>
              </a:spcAft>
              <a:buSzPts val="1400"/>
              <a:buNone/>
              <a:defRPr sz="159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18"/>
              </a:spcBef>
              <a:spcAft>
                <a:spcPts val="0"/>
              </a:spcAft>
              <a:buSzPts val="1400"/>
              <a:buNone/>
              <a:defRPr sz="159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18"/>
              </a:spcBef>
              <a:spcAft>
                <a:spcPts val="0"/>
              </a:spcAft>
              <a:buSzPts val="1400"/>
              <a:buNone/>
              <a:defRPr sz="159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18"/>
              </a:spcBef>
              <a:spcAft>
                <a:spcPts val="0"/>
              </a:spcAft>
              <a:buSzPts val="1400"/>
              <a:buNone/>
              <a:defRPr sz="159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252000" y="252000"/>
            <a:ext cx="72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4"/>
          <p:cNvSpPr/>
          <p:nvPr/>
        </p:nvSpPr>
        <p:spPr>
          <a:xfrm>
            <a:off x="9986481" y="216000"/>
            <a:ext cx="453332" cy="3600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4"/>
              <a:buFont typeface="Arial"/>
              <a:buNone/>
            </a:pPr>
            <a:fld id="{00000000-1234-1234-1234-123412341234}" type="slidenum">
              <a:rPr lang="en-US" sz="132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24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4"/>
          <p:cNvSpPr txBox="1">
            <a:spLocks noGrp="1"/>
          </p:cNvSpPr>
          <p:nvPr>
            <p:ph type="title"/>
          </p:nvPr>
        </p:nvSpPr>
        <p:spPr>
          <a:xfrm>
            <a:off x="252000" y="252000"/>
            <a:ext cx="72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5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69" b="0" i="0" u="none" strike="noStrike" cap="none">
                <a:solidFill>
                  <a:schemeClr val="dk2"/>
                </a:solidFill>
                <a:latin typeface="MS PGothic"/>
                <a:ea typeface="MS PGothic"/>
                <a:cs typeface="MS PGothic"/>
                <a:sym typeface="MS P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69" b="0" i="0" u="none" strike="noStrike" cap="none">
                <a:solidFill>
                  <a:schemeClr val="dk2"/>
                </a:solidFill>
                <a:latin typeface="MS PGothic"/>
                <a:ea typeface="MS PGothic"/>
                <a:cs typeface="MS PGothic"/>
                <a:sym typeface="MS P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69" b="0" i="0" u="none" strike="noStrike" cap="none">
                <a:solidFill>
                  <a:schemeClr val="dk2"/>
                </a:solidFill>
                <a:latin typeface="MS PGothic"/>
                <a:ea typeface="MS PGothic"/>
                <a:cs typeface="MS PGothic"/>
                <a:sym typeface="MS P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69" b="0" i="0" u="none" strike="noStrike" cap="none">
                <a:solidFill>
                  <a:schemeClr val="dk2"/>
                </a:solidFill>
                <a:latin typeface="MS PGothic"/>
                <a:ea typeface="MS PGothic"/>
                <a:cs typeface="MS PGothic"/>
                <a:sym typeface="MS P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2"/>
                </a:solidFill>
                <a:latin typeface="MS PGothic"/>
                <a:ea typeface="MS PGothic"/>
                <a:cs typeface="MS PGothic"/>
                <a:sym typeface="MS P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2"/>
                </a:solidFill>
                <a:latin typeface="MS PGothic"/>
                <a:ea typeface="MS PGothic"/>
                <a:cs typeface="MS PGothic"/>
                <a:sym typeface="MS P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2"/>
                </a:solidFill>
                <a:latin typeface="MS PGothic"/>
                <a:ea typeface="MS PGothic"/>
                <a:cs typeface="MS PGothic"/>
                <a:sym typeface="MS P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2"/>
                </a:solidFill>
                <a:latin typeface="MS PGothic"/>
                <a:ea typeface="MS PGothic"/>
                <a:cs typeface="MS PGothic"/>
                <a:sym typeface="MS PGothic"/>
              </a:defRPr>
            </a:lvl9pPr>
          </a:lstStyle>
          <a:p>
            <a:endParaRPr/>
          </a:p>
        </p:txBody>
      </p:sp>
      <p:cxnSp>
        <p:nvCxnSpPr>
          <p:cNvPr id="13" name="Google Shape;13;p4"/>
          <p:cNvCxnSpPr/>
          <p:nvPr/>
        </p:nvCxnSpPr>
        <p:spPr>
          <a:xfrm>
            <a:off x="233196" y="683407"/>
            <a:ext cx="10225254" cy="0"/>
          </a:xfrm>
          <a:prstGeom prst="straightConnector1">
            <a:avLst/>
          </a:prstGeom>
          <a:noFill/>
          <a:ln w="12700" cap="flat" cmpd="sng">
            <a:solidFill>
              <a:srgbClr val="CC002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F24E8B0C-ADB4-972F-D5A6-66CF89320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">
            <a:extLst>
              <a:ext uri="{FF2B5EF4-FFF2-40B4-BE49-F238E27FC236}">
                <a16:creationId xmlns:a16="http://schemas.microsoft.com/office/drawing/2014/main" id="{6293DD35-E667-D1D4-4A0B-6FC8A7C668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2000" y="252000"/>
            <a:ext cx="72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別紙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2.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プロジェクトメンバー経歴（</a:t>
            </a:r>
            <a:r>
              <a:rPr lang="en-US" altLang="ja-JP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lang="en-US" altLang="ja-JP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２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）</a:t>
            </a:r>
            <a:endParaRPr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FCACE028-4EB2-CB56-6A33-A1652BCB69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7338945"/>
              </p:ext>
            </p:extLst>
          </p:nvPr>
        </p:nvGraphicFramePr>
        <p:xfrm>
          <a:off x="2424514" y="918378"/>
          <a:ext cx="7473112" cy="1460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817">
                  <a:extLst>
                    <a:ext uri="{9D8B030D-6E8A-4147-A177-3AD203B41FA5}">
                      <a16:colId xmlns:a16="http://schemas.microsoft.com/office/drawing/2014/main" val="1728043113"/>
                    </a:ext>
                  </a:extLst>
                </a:gridCol>
                <a:gridCol w="5754295">
                  <a:extLst>
                    <a:ext uri="{9D8B030D-6E8A-4147-A177-3AD203B41FA5}">
                      <a16:colId xmlns:a16="http://schemas.microsoft.com/office/drawing/2014/main" val="3348416668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r>
                        <a:rPr kumimoji="1" lang="ja-JP" altLang="en-US" sz="1200" b="0" i="0" u="none" strike="noStrike" kern="1200" baseline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本プロジェクト役割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1427" marR="91427" marT="45746" marB="457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0" i="0" u="none" strike="noStrike" kern="1200" baseline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Salesforce</a:t>
                      </a:r>
                      <a:r>
                        <a:rPr kumimoji="1" lang="ja-JP" altLang="en-US" sz="1200" b="0" i="0" u="none" strike="noStrike" kern="1200" baseline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キーマン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1427" marR="91427" marT="45746" marB="457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752462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⽒名（役職）</a:t>
                      </a:r>
                    </a:p>
                  </a:txBody>
                  <a:tcPr marL="91427" marR="91427" marT="45746" marB="457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張　文博（チョウ　ブンハク）</a:t>
                      </a:r>
                    </a:p>
                  </a:txBody>
                  <a:tcPr marL="91427" marR="91427" marT="45746" marB="457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084465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主な保有資格</a:t>
                      </a:r>
                    </a:p>
                  </a:txBody>
                  <a:tcPr marL="91427" marR="91427" marT="45746" marB="457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1427" marR="91427" marT="45746" marB="457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178004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言語スキル</a:t>
                      </a:r>
                    </a:p>
                  </a:txBody>
                  <a:tcPr marL="91427" marR="91427" marT="45746" marB="457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日本語　Ｎ</a:t>
                      </a:r>
                      <a:r>
                        <a:rPr kumimoji="1" lang="en-US" altLang="ja-JP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1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1427" marR="91427" marT="45746" marB="457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786728"/>
                  </a:ext>
                </a:extLst>
              </a:tr>
            </a:tbl>
          </a:graphicData>
        </a:graphic>
      </p:graphicFrame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8AF8AF8F-74F0-0EBE-B753-D0F4C8770C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4446359"/>
              </p:ext>
            </p:extLst>
          </p:nvPr>
        </p:nvGraphicFramePr>
        <p:xfrm>
          <a:off x="944162" y="2822097"/>
          <a:ext cx="8953464" cy="42289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01054">
                  <a:extLst>
                    <a:ext uri="{9D8B030D-6E8A-4147-A177-3AD203B41FA5}">
                      <a16:colId xmlns:a16="http://schemas.microsoft.com/office/drawing/2014/main" val="3218258557"/>
                    </a:ext>
                  </a:extLst>
                </a:gridCol>
                <a:gridCol w="1120204">
                  <a:extLst>
                    <a:ext uri="{9D8B030D-6E8A-4147-A177-3AD203B41FA5}">
                      <a16:colId xmlns:a16="http://schemas.microsoft.com/office/drawing/2014/main" val="193354012"/>
                    </a:ext>
                  </a:extLst>
                </a:gridCol>
                <a:gridCol w="4732584">
                  <a:extLst>
                    <a:ext uri="{9D8B030D-6E8A-4147-A177-3AD203B41FA5}">
                      <a16:colId xmlns:a16="http://schemas.microsoft.com/office/drawing/2014/main" val="673325702"/>
                    </a:ext>
                  </a:extLst>
                </a:gridCol>
                <a:gridCol w="1999622">
                  <a:extLst>
                    <a:ext uri="{9D8B030D-6E8A-4147-A177-3AD203B41FA5}">
                      <a16:colId xmlns:a16="http://schemas.microsoft.com/office/drawing/2014/main" val="669699974"/>
                    </a:ext>
                  </a:extLst>
                </a:gridCol>
              </a:tblGrid>
              <a:tr h="1040040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100" b="0" u="none" strike="noStrike" dirty="0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略歴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7495" marR="7495" marT="74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ctr">
                        <a:buFont typeface="Wingdings" panose="05000000000000000000" pitchFamily="2" charset="2"/>
                        <a:buNone/>
                      </a:pPr>
                      <a:r>
                        <a:rPr lang="en-US" altLang="ja-JP" sz="1000" b="0" u="none" strike="noStrike" dirty="0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Accenture</a:t>
                      </a:r>
                      <a:r>
                        <a:rPr lang="ja-JP" altLang="en-US" sz="1000" b="0" u="none" strike="noStrike" dirty="0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 </a:t>
                      </a:r>
                      <a:r>
                        <a:rPr lang="en-US" altLang="ja-JP" sz="1000" b="0" u="none" strike="noStrike" dirty="0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2021.5</a:t>
                      </a:r>
                      <a:r>
                        <a:rPr lang="ja-JP" altLang="en-US" sz="1000" b="0" u="none" strike="noStrike" dirty="0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～</a:t>
                      </a:r>
                      <a:r>
                        <a:rPr lang="en-US" altLang="ja-JP" sz="1000" b="0" u="none" strike="noStrike" dirty="0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2026.01 </a:t>
                      </a:r>
                      <a:r>
                        <a:rPr lang="ja-JP" altLang="en-US" sz="1000" b="0" u="none" strike="noStrike" dirty="0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日本向けのソフトウェア開発</a:t>
                      </a:r>
                      <a:r>
                        <a:rPr lang="en-US" altLang="ja-JP" sz="1000" b="0" u="none" strike="noStrike" dirty="0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(MURATA</a:t>
                      </a:r>
                      <a:r>
                        <a:rPr lang="ja-JP" altLang="en-US" sz="1000" b="0" u="none" strike="noStrike" dirty="0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、</a:t>
                      </a:r>
                      <a:r>
                        <a:rPr lang="en-US" altLang="ja-JP" sz="1000" b="0" u="none" strike="noStrike" dirty="0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EPSON</a:t>
                      </a:r>
                      <a:r>
                        <a:rPr lang="ja-JP" altLang="en-US" sz="1000" b="0" u="none" strike="noStrike" dirty="0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、</a:t>
                      </a:r>
                      <a:r>
                        <a:rPr lang="en-US" altLang="ja-JP" sz="1000" b="0" u="none" strike="noStrike" dirty="0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TAKEDA</a:t>
                      </a:r>
                      <a:r>
                        <a:rPr lang="ja-JP" altLang="en-US" sz="1000" b="0" u="none" strike="noStrike" dirty="0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、</a:t>
                      </a:r>
                      <a:r>
                        <a:rPr lang="en-US" altLang="ja-JP" sz="1000" b="0" u="none" strike="noStrike" dirty="0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LAWSON)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None/>
                      </a:pPr>
                      <a:r>
                        <a:rPr lang="ja-JP" altLang="en-US" sz="1000" b="0" u="none" strike="noStrike" dirty="0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　開発言語：</a:t>
                      </a:r>
                      <a:r>
                        <a:rPr lang="en-US" altLang="ja-JP" sz="1000" b="0" u="none" strike="noStrike" dirty="0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Salesforce</a:t>
                      </a:r>
                      <a:r>
                        <a:rPr lang="ja-JP" altLang="en-US" sz="1000" b="0" u="none" strike="noStrike" dirty="0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、</a:t>
                      </a:r>
                      <a:r>
                        <a:rPr lang="en-US" altLang="ja-JP" sz="1000" b="0" u="none" strike="noStrike" dirty="0" err="1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Mulesoft</a:t>
                      </a:r>
                      <a:r>
                        <a:rPr lang="ja-JP" altLang="en-US" sz="1000" b="0" u="none" strike="noStrike" dirty="0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、</a:t>
                      </a:r>
                      <a:r>
                        <a:rPr lang="en-US" altLang="ja-JP" sz="1000" b="0" u="none" strike="noStrike" dirty="0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Aws</a:t>
                      </a:r>
                      <a:r>
                        <a:rPr lang="ja-JP" altLang="en-US" sz="1000" b="0" u="none" strike="noStrike" dirty="0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、</a:t>
                      </a:r>
                      <a:r>
                        <a:rPr lang="en-US" altLang="ja-JP" sz="1000" b="0" u="none" strike="noStrike" dirty="0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Node.js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None/>
                      </a:pPr>
                      <a:r>
                        <a:rPr lang="en-US" altLang="ja-JP" sz="1000" b="0" u="none" strike="noStrike" dirty="0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SSD 2026.07</a:t>
                      </a:r>
                      <a:r>
                        <a:rPr lang="ja-JP" altLang="en-US" sz="1000" b="0" u="none" strike="noStrike" dirty="0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～現在</a:t>
                      </a:r>
                      <a:r>
                        <a:rPr lang="en-US" altLang="ja-JP" sz="1000" b="0" u="none" strike="noStrike" dirty="0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 SJP</a:t>
                      </a:r>
                      <a:r>
                        <a:rPr lang="ja-JP" altLang="en-US" sz="1000" b="0" u="none" strike="noStrike" dirty="0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の保守、開発作業</a:t>
                      </a:r>
                      <a:endParaRPr lang="en-US" altLang="ja-JP" sz="1000" b="0" u="none" strike="noStrike" dirty="0"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0" indent="0" algn="l" fontAlgn="ctr">
                        <a:buFont typeface="Wingdings" panose="05000000000000000000" pitchFamily="2" charset="2"/>
                        <a:buNone/>
                      </a:pPr>
                      <a:r>
                        <a:rPr lang="ja-JP" altLang="en-US" sz="1000" b="0" u="none" strike="noStrike" dirty="0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  開発言語：</a:t>
                      </a:r>
                      <a:r>
                        <a:rPr lang="en-US" altLang="ja-JP" sz="1000" b="0" u="none" strike="noStrike" dirty="0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Salesforce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None/>
                      </a:pPr>
                      <a:r>
                        <a:rPr lang="en-US" altLang="ja-JP" sz="1000" b="0" u="none" strike="noStrike" dirty="0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SYSTEMS 2023.11</a:t>
                      </a:r>
                      <a:r>
                        <a:rPr lang="ja-JP" altLang="en-US" sz="1000" b="0" u="none" strike="noStrike" dirty="0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～</a:t>
                      </a:r>
                      <a:r>
                        <a:rPr lang="en-US" altLang="ja-JP" sz="1000" b="0" u="none" strike="noStrike" dirty="0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2025.12  SOMPO</a:t>
                      </a:r>
                      <a:r>
                        <a:rPr lang="ja-JP" altLang="en-US" sz="1000" b="0" u="none" strike="noStrike" dirty="0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グループの諸システム開発・保守</a:t>
                      </a:r>
                      <a:endParaRPr lang="en-US" altLang="ja-JP" sz="1000" b="0" u="none" strike="noStrike" dirty="0"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0" indent="0" algn="l" fontAlgn="ctr">
                        <a:buFont typeface="Wingdings" panose="05000000000000000000" pitchFamily="2" charset="2"/>
                        <a:buNone/>
                      </a:pPr>
                      <a:r>
                        <a:rPr lang="ja-JP" altLang="en-US" sz="1000" b="0" u="none" strike="noStrike" dirty="0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  開発言語：</a:t>
                      </a:r>
                      <a:r>
                        <a:rPr lang="en-US" altLang="ja-JP" sz="1000" b="0" u="none" strike="noStrike" dirty="0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Salesforce</a:t>
                      </a:r>
                    </a:p>
                  </a:txBody>
                  <a:tcPr marL="7495" marR="7495" marT="74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197163"/>
                  </a:ext>
                </a:extLst>
              </a:tr>
              <a:tr h="224759">
                <a:tc rowSpan="9">
                  <a:txBody>
                    <a:bodyPr/>
                    <a:lstStyle/>
                    <a:p>
                      <a:pPr algn="l" fontAlgn="ctr"/>
                      <a:r>
                        <a:rPr lang="ja-JP" altLang="en-US" sz="1100" b="0" u="none" strike="noStrike" dirty="0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主なプロジェクト経験</a:t>
                      </a:r>
                      <a:endParaRPr lang="en-US" altLang="ja-JP" sz="1100" b="0" u="none" strike="noStrike" dirty="0"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l" fontAlgn="ctr"/>
                      <a:endParaRPr lang="en-US" altLang="ja-JP" sz="900" b="0" i="0" u="none" strike="noStrike" dirty="0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※</a:t>
                      </a:r>
                      <a:r>
                        <a:rPr lang="ja-JP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上から時系列順</a:t>
                      </a:r>
                    </a:p>
                    <a:p>
                      <a:pPr algn="l" fontAlgn="ctr"/>
                      <a:endParaRPr lang="ja-JP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7495" marR="7495" marT="74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業界</a:t>
                      </a:r>
                    </a:p>
                  </a:txBody>
                  <a:tcPr marL="7495" marR="7495" marT="74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0" u="none" strike="noStrike" dirty="0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プロジェクト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7495" marR="7495" marT="74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0" u="none" strike="noStrike" dirty="0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役割　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7495" marR="7495" marT="74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9604059"/>
                  </a:ext>
                </a:extLst>
              </a:tr>
              <a:tr h="361221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販売</a:t>
                      </a:r>
                    </a:p>
                  </a:txBody>
                  <a:tcPr marL="7495" marR="7495" marT="74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MURATA:</a:t>
                      </a: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 注文処理システム画面の開発</a:t>
                      </a:r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(Sitecore)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7495" marR="7495" marT="74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SE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7495" marR="7495" marT="74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9453976"/>
                  </a:ext>
                </a:extLst>
              </a:tr>
              <a:tr h="361221">
                <a:tc vMerge="1">
                  <a:txBody>
                    <a:bodyPr/>
                    <a:lstStyle/>
                    <a:p>
                      <a:pPr algn="l" fontAlgn="ctr"/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495" marR="7495" marT="749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販売</a:t>
                      </a:r>
                    </a:p>
                  </a:txBody>
                  <a:tcPr marL="7495" marR="7495" marT="74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0" u="none" strike="noStrike" dirty="0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EPSON: </a:t>
                      </a:r>
                      <a:r>
                        <a:rPr lang="ja-JP" altLang="en-US" sz="1000" b="0" u="none" strike="noStrike" dirty="0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公式サイトのユーザー新規登録画面などの開発</a:t>
                      </a:r>
                      <a:endParaRPr lang="en-US" altLang="ja-JP" sz="1000" b="0" u="none" strike="noStrike" dirty="0"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l" fontAlgn="ctr"/>
                      <a:r>
                        <a:rPr lang="ja-JP" altLang="en-US" sz="1000" b="0" u="none" strike="noStrike" dirty="0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             </a:t>
                      </a:r>
                      <a:r>
                        <a:rPr lang="en-US" altLang="ja-JP" sz="1000" b="0" u="none" strike="noStrike" dirty="0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(Experience Cloud</a:t>
                      </a:r>
                      <a:r>
                        <a:rPr lang="ja-JP" altLang="en-US" sz="1000" b="0" u="none" strike="noStrike" dirty="0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、</a:t>
                      </a:r>
                      <a:r>
                        <a:rPr lang="en-US" altLang="ja-JP" sz="1000" b="0" u="none" strike="noStrike" dirty="0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LWC</a:t>
                      </a:r>
                      <a:r>
                        <a:rPr lang="ja-JP" altLang="en-US" sz="1000" b="0" u="none" strike="noStrike" dirty="0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、</a:t>
                      </a:r>
                      <a:r>
                        <a:rPr lang="en-US" altLang="ja-JP" sz="1000" b="0" u="none" strike="noStrike" dirty="0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APEX)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7495" marR="7495" marT="74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SE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7495" marR="7495" marT="74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80291"/>
                  </a:ext>
                </a:extLst>
              </a:tr>
              <a:tr h="361221">
                <a:tc vMerge="1">
                  <a:txBody>
                    <a:bodyPr/>
                    <a:lstStyle/>
                    <a:p>
                      <a:pPr algn="l" fontAlgn="ctr"/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495" marR="7495" marT="749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販売</a:t>
                      </a:r>
                    </a:p>
                  </a:txBody>
                  <a:tcPr marL="7495" marR="7495" marT="74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000" b="0" u="none" strike="noStrike" dirty="0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TAKEDA: </a:t>
                      </a: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自動化ツールの開発</a:t>
                      </a:r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(Python)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               販売管理</a:t>
                      </a:r>
                      <a:r>
                        <a:rPr lang="ja-JP" altLang="en-US" sz="1000" b="0" u="none" strike="noStrike" dirty="0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用システムの画面開発</a:t>
                      </a:r>
                      <a:r>
                        <a:rPr lang="en-US" altLang="ja-JP" sz="1000" b="0" u="none" strike="noStrike" dirty="0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</a:t>
                      </a:r>
                      <a:r>
                        <a:rPr lang="en-US" altLang="zh-CN" sz="1000" b="0" u="none" strike="noStrike" dirty="0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Veeva</a:t>
                      </a:r>
                      <a:r>
                        <a:rPr lang="ja-JP" altLang="en-US" sz="1000" b="0" u="none" strike="noStrike" dirty="0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、</a:t>
                      </a:r>
                      <a:r>
                        <a:rPr lang="en-US" altLang="ja-JP" sz="1000" b="0" u="none" strike="noStrike" dirty="0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Classic</a:t>
                      </a:r>
                      <a:r>
                        <a:rPr lang="ja-JP" altLang="en-US" sz="1000" b="0" u="none" strike="noStrike" dirty="0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、標準機能</a:t>
                      </a:r>
                      <a:r>
                        <a:rPr lang="en-US" altLang="ja-JP" sz="1000" b="0" u="none" strike="noStrike" dirty="0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7495" marR="7495" marT="74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SE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7495" marR="7495" marT="74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4759036"/>
                  </a:ext>
                </a:extLst>
              </a:tr>
              <a:tr h="361221">
                <a:tc vMerge="1">
                  <a:txBody>
                    <a:bodyPr/>
                    <a:lstStyle/>
                    <a:p>
                      <a:pPr algn="l" fontAlgn="ctr"/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495" marR="7495" marT="749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販売</a:t>
                      </a:r>
                    </a:p>
                  </a:txBody>
                  <a:tcPr marL="7495" marR="7495" marT="74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000" b="0" u="none" strike="noStrike" dirty="0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LAWSON</a:t>
                      </a:r>
                      <a:r>
                        <a:rPr lang="ja-JP" altLang="en-US" sz="1000" b="0" u="none" strike="noStrike" dirty="0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： 内部店舗採点システムの画面開発</a:t>
                      </a:r>
                      <a:r>
                        <a:rPr lang="en-US" altLang="ja-JP" sz="1000" b="0" u="none" strike="noStrike" dirty="0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(LWC</a:t>
                      </a:r>
                      <a:r>
                        <a:rPr lang="ja-JP" altLang="en-US" sz="1000" b="0" u="none" strike="noStrike" dirty="0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、</a:t>
                      </a:r>
                      <a:r>
                        <a:rPr lang="en-US" altLang="ja-JP" sz="1000" b="0" u="none" strike="noStrike" dirty="0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APEX)</a:t>
                      </a:r>
                      <a:endParaRPr lang="en-US" altLang="ja-JP" sz="1000" b="0" i="0" u="none" strike="noStrike" dirty="0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7495" marR="7495" marT="74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SE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7495" marR="7495" marT="74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9057101"/>
                  </a:ext>
                </a:extLst>
              </a:tr>
              <a:tr h="361221">
                <a:tc vMerge="1">
                  <a:txBody>
                    <a:bodyPr/>
                    <a:lstStyle/>
                    <a:p>
                      <a:pPr algn="l" fontAlgn="ctr"/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495" marR="7495" marT="749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損害保険</a:t>
                      </a:r>
                    </a:p>
                  </a:txBody>
                  <a:tcPr marL="7495" marR="7495" marT="74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0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  <a:sym typeface="Arial"/>
                        </a:rPr>
                        <a:t>SJP: CRM</a:t>
                      </a:r>
                      <a:r>
                        <a:rPr lang="ja-JP" altLang="en-US" sz="10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  <a:sym typeface="Arial"/>
                        </a:rPr>
                        <a:t>系代理店システム業務保守・新規開発（</a:t>
                      </a:r>
                      <a:r>
                        <a:rPr lang="en-US" altLang="ja-JP" sz="10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  <a:sym typeface="Arial"/>
                        </a:rPr>
                        <a:t>Salesforce</a:t>
                      </a:r>
                      <a:r>
                        <a:rPr lang="ja-JP" altLang="en-US" sz="10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  <a:sym typeface="Arial"/>
                        </a:rPr>
                        <a:t>）</a:t>
                      </a:r>
                    </a:p>
                  </a:txBody>
                  <a:tcPr marL="7495" marR="7495" marT="74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SE</a:t>
                      </a:r>
                    </a:p>
                  </a:txBody>
                  <a:tcPr marL="7495" marR="7495" marT="74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1249108"/>
                  </a:ext>
                </a:extLst>
              </a:tr>
              <a:tr h="435610">
                <a:tc vMerge="1">
                  <a:txBody>
                    <a:bodyPr/>
                    <a:lstStyle/>
                    <a:p>
                      <a:pPr algn="l" fontAlgn="ctr"/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495" marR="7495" marT="749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損害保険</a:t>
                      </a:r>
                    </a:p>
                  </a:txBody>
                  <a:tcPr marL="7495" marR="7495" marT="74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SOMPO: SOMPO</a:t>
                      </a: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グループの</a:t>
                      </a:r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Salesforce</a:t>
                      </a: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システム</a:t>
                      </a:r>
                      <a:r>
                        <a:rPr lang="ja-JP" altLang="en-US" sz="10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  <a:sym typeface="Arial"/>
                        </a:rPr>
                        <a:t>業務保守・新規開発</a:t>
                      </a:r>
                      <a:endParaRPr lang="en-US" altLang="ja-JP" sz="1000" b="0" i="0" u="none" strike="noStrike" cap="none" dirty="0">
                        <a:solidFill>
                          <a:schemeClr val="dk1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  <a:sym typeface="Arial"/>
                        </a:rPr>
                        <a:t>　　　　　　　 </a:t>
                      </a:r>
                      <a:r>
                        <a:rPr lang="en-US" altLang="ja-JP" sz="10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  <a:sym typeface="Arial"/>
                        </a:rPr>
                        <a:t>Call Center</a:t>
                      </a:r>
                      <a:r>
                        <a:rPr lang="ja-JP" altLang="en-US" sz="10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  <a:sym typeface="Arial"/>
                        </a:rPr>
                        <a:t>に関連するチャット機能の</a:t>
                      </a:r>
                      <a:r>
                        <a:rPr lang="en-US" altLang="ja-JP" sz="10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  <a:sym typeface="Arial"/>
                        </a:rPr>
                        <a:t>MIAW</a:t>
                      </a:r>
                      <a:r>
                        <a:rPr lang="ja-JP" altLang="en-US" sz="10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  <a:sym typeface="Arial"/>
                        </a:rPr>
                        <a:t>移行（</a:t>
                      </a:r>
                      <a:r>
                        <a:rPr lang="en-US" altLang="ja-JP" sz="10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  <a:sym typeface="Arial"/>
                        </a:rPr>
                        <a:t>PL</a:t>
                      </a:r>
                      <a:r>
                        <a:rPr lang="ja-JP" altLang="en-US" sz="10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  <a:sym typeface="Arial"/>
                        </a:rPr>
                        <a:t>職）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7495" marR="7495" marT="74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BSE</a:t>
                      </a:r>
                    </a:p>
                  </a:txBody>
                  <a:tcPr marL="7495" marR="7495" marT="74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7853617"/>
                  </a:ext>
                </a:extLst>
              </a:tr>
              <a:tr h="361221">
                <a:tc vMerge="1">
                  <a:txBody>
                    <a:bodyPr/>
                    <a:lstStyle/>
                    <a:p>
                      <a:pPr algn="l" fontAlgn="ctr"/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495" marR="7495" marT="749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7495" marR="7495" marT="74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7495" marR="7495" marT="74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1000" b="0" i="0" u="none" strike="noStrike" dirty="0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7495" marR="7495" marT="74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22449"/>
                  </a:ext>
                </a:extLst>
              </a:tr>
              <a:tr h="361221">
                <a:tc vMerge="1">
                  <a:txBody>
                    <a:bodyPr/>
                    <a:lstStyle/>
                    <a:p>
                      <a:pPr algn="l" fontAlgn="ctr"/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495" marR="7495" marT="749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7495" marR="7495" marT="74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7495" marR="7495" marT="74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7495" marR="7495" marT="74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51757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9385866"/>
      </p:ext>
    </p:extLst>
  </p:cSld>
  <p:clrMapOvr>
    <a:masterClrMapping/>
  </p:clrMapOvr>
</p:sld>
</file>

<file path=ppt/theme/theme1.xml><?xml version="1.0" encoding="utf-8"?>
<a:theme xmlns:a="http://schemas.openxmlformats.org/drawingml/2006/main" name="標準デザイン_ノンブル">
  <a:themeElements>
    <a:clrScheme name="sompo">
      <a:dk1>
        <a:srgbClr val="000000"/>
      </a:dk1>
      <a:lt1>
        <a:srgbClr val="FFFFFF"/>
      </a:lt1>
      <a:dk2>
        <a:srgbClr val="A0A3AA"/>
      </a:dk2>
      <a:lt2>
        <a:srgbClr val="DADCDC"/>
      </a:lt2>
      <a:accent1>
        <a:srgbClr val="CC0022"/>
      </a:accent1>
      <a:accent2>
        <a:srgbClr val="ED8B00"/>
      </a:accent2>
      <a:accent3>
        <a:srgbClr val="FCC800"/>
      </a:accent3>
      <a:accent4>
        <a:srgbClr val="009F3A"/>
      </a:accent4>
      <a:accent5>
        <a:srgbClr val="001268"/>
      </a:accent5>
      <a:accent6>
        <a:srgbClr val="826FB0"/>
      </a:accent6>
      <a:hlink>
        <a:srgbClr val="0099FF"/>
      </a:hlink>
      <a:folHlink>
        <a:srgbClr val="99CC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16493</TotalTime>
  <Words>232</Words>
  <Application>Microsoft Office PowerPoint</Application>
  <PresentationFormat>ユーザー設定</PresentationFormat>
  <Paragraphs>42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BIZ UDPゴシック</vt:lpstr>
      <vt:lpstr>Helvetica Neue</vt:lpstr>
      <vt:lpstr>Wingdings</vt:lpstr>
      <vt:lpstr>Arial</vt:lpstr>
      <vt:lpstr>Calibri</vt:lpstr>
      <vt:lpstr>標準デザイン_ノンブル</vt:lpstr>
      <vt:lpstr>別紙2.プロジェクトメンバー経歴（3/1２）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張　録</dc:creator>
  <cp:lastModifiedBy>Bunhaku CHOU / 張 文博［ＳＯＭＰＯシステムズ ＳＳＤ開発部］</cp:lastModifiedBy>
  <cp:revision>218</cp:revision>
  <cp:lastPrinted>2026-01-18T17:58:56Z</cp:lastPrinted>
  <dcterms:created xsi:type="dcterms:W3CDTF">2023-07-31T07:34:27Z</dcterms:created>
  <dcterms:modified xsi:type="dcterms:W3CDTF">2026-08-21T06:05:28Z</dcterms:modified>
</cp:coreProperties>
</file>