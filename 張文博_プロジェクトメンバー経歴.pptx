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0688638" cy="7562850"/>
  <p:notesSz cx="6858000" cy="9144000"/>
  <p:embeddedFontLst>
    <p:embeddedFont>
      <p:font typeface="BIZ UDPゴシック" panose="020B0400000000000000" pitchFamily="34" charset="-128"/>
      <p:regular r:id="rId4"/>
      <p:bold r:id="rId5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テーマ スタイル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中間スタイル 3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ABFCF23-3B69-468F-B69F-88F6DE6A72F2}" styleName="中間スタイル 1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A111915-BE36-4E01-A7E5-04B1672EAD32}" styleName="淡色スタイル 2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FD0F851-EC5A-4D38-B0AD-8093EC10F338}" styleName="淡色スタイル 1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85" d="100"/>
          <a:sy n="185" d="100"/>
        </p:scale>
        <p:origin x="1488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2.fntdata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354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354"/>
              </a:spcBef>
              <a:spcAft>
                <a:spcPts val="0"/>
              </a:spcAft>
              <a:buNone/>
            </a:pPr>
            <a:r>
              <a:t>- 日本語_履歴書_張文博.docx（職歴・資格）</a:t>
            </a:r>
          </a:p>
          <a:p>
            <a:pPr marL="0" lvl="0" indent="0" algn="l">
              <a:spcBef>
                <a:spcPts val="354"/>
              </a:spcBef>
              <a:spcAft>
                <a:spcPts val="0"/>
              </a:spcAft>
              <a:buNone/>
            </a:pPr>
            <a:r>
              <a:t>- ユーザー提供情報（2026年7月開始の現プロジェクト）</a:t>
            </a:r>
          </a:p>
          <a:p>
            <a:pPr marL="0" lvl="0" indent="0" algn="l">
              <a:spcBef>
                <a:spcPts val="354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354"/>
              </a:spcBef>
              <a:spcAft>
                <a:spcPts val="0"/>
              </a:spcAft>
              <a:buNone/>
            </a:pPr>
            <a:r>
              <a:t>資格詳細：Salesforce認定アドミニストレーター、Salesforce認定 Platform デベロッパー I、Salesforce認定 Platform アプリケーションビルダー、Salesforce認定 MuleSoft デベロッパー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>
            <a:extLst>
              <a:ext uri="{FF2B5EF4-FFF2-40B4-BE49-F238E27FC236}">
                <a16:creationId xmlns:a16="http://schemas.microsoft.com/office/drawing/2014/main" id="{01ED5D91-5D18-4C75-B63B-894225C52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19" y="1169331"/>
            <a:ext cx="9504000" cy="55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7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228600" algn="l">
              <a:spcBef>
                <a:spcPts val="270"/>
              </a:spcBef>
              <a:spcAft>
                <a:spcPts val="0"/>
              </a:spcAft>
              <a:buSzPts val="1400"/>
              <a:buNone/>
              <a:defRPr sz="1352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228600" algn="l">
              <a:spcBef>
                <a:spcPts val="270"/>
              </a:spcBef>
              <a:spcAft>
                <a:spcPts val="0"/>
              </a:spcAft>
              <a:buSzPts val="1400"/>
              <a:buNone/>
              <a:defRPr sz="1352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228600" algn="l">
              <a:spcBef>
                <a:spcPts val="270"/>
              </a:spcBef>
              <a:spcAft>
                <a:spcPts val="0"/>
              </a:spcAft>
              <a:buSzPts val="1400"/>
              <a:buNone/>
              <a:defRPr sz="1352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228600" algn="l">
              <a:spcBef>
                <a:spcPts val="270"/>
              </a:spcBef>
              <a:spcAft>
                <a:spcPts val="0"/>
              </a:spcAft>
              <a:buSzPts val="1400"/>
              <a:buNone/>
              <a:defRPr sz="1352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228600" algn="l">
              <a:spcBef>
                <a:spcPts val="223"/>
              </a:spcBef>
              <a:spcAft>
                <a:spcPts val="0"/>
              </a:spcAft>
              <a:buSzPts val="1400"/>
              <a:buNone/>
              <a:defRPr sz="1113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228600" algn="l">
              <a:spcBef>
                <a:spcPts val="223"/>
              </a:spcBef>
              <a:spcAft>
                <a:spcPts val="0"/>
              </a:spcAft>
              <a:buSzPts val="1400"/>
              <a:buNone/>
              <a:defRPr sz="1113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228600" algn="l">
              <a:spcBef>
                <a:spcPts val="223"/>
              </a:spcBef>
              <a:spcAft>
                <a:spcPts val="0"/>
              </a:spcAft>
              <a:buSzPts val="1400"/>
              <a:buNone/>
              <a:defRPr sz="1113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228600" algn="l">
              <a:spcBef>
                <a:spcPts val="223"/>
              </a:spcBef>
              <a:spcAft>
                <a:spcPts val="0"/>
              </a:spcAft>
              <a:buSzPts val="1400"/>
              <a:buNone/>
              <a:defRPr sz="1113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25" name="Google Shape;25;p6">
            <a:extLst>
              <a:ext uri="{FF2B5EF4-FFF2-40B4-BE49-F238E27FC236}">
                <a16:creationId xmlns:a16="http://schemas.microsoft.com/office/drawing/2014/main" id="{19E2BF0D-58D9-4056-A680-356356A85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00" y="252000"/>
            <a:ext cx="72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つのコンテンツ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>
            <a:extLst>
              <a:ext uri="{FF2B5EF4-FFF2-40B4-BE49-F238E27FC236}">
                <a16:creationId xmlns:a16="http://schemas.microsoft.com/office/drawing/2014/main" id="{85076527-2456-408C-A446-818CACC0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9964" y="1169331"/>
            <a:ext cx="4573180" cy="55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7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228600" algn="l">
              <a:spcBef>
                <a:spcPts val="270"/>
              </a:spcBef>
              <a:spcAft>
                <a:spcPts val="0"/>
              </a:spcAft>
              <a:buSzPts val="1400"/>
              <a:buNone/>
              <a:defRPr sz="1352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228600" algn="l">
              <a:spcBef>
                <a:spcPts val="270"/>
              </a:spcBef>
              <a:spcAft>
                <a:spcPts val="0"/>
              </a:spcAft>
              <a:buSzPts val="1400"/>
              <a:buNone/>
              <a:defRPr sz="1352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228600" algn="l">
              <a:spcBef>
                <a:spcPts val="270"/>
              </a:spcBef>
              <a:spcAft>
                <a:spcPts val="0"/>
              </a:spcAft>
              <a:buSzPts val="1400"/>
              <a:buNone/>
              <a:defRPr sz="1352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228600" algn="l">
              <a:spcBef>
                <a:spcPts val="270"/>
              </a:spcBef>
              <a:spcAft>
                <a:spcPts val="0"/>
              </a:spcAft>
              <a:buSzPts val="1400"/>
              <a:buNone/>
              <a:defRPr sz="1352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228600" algn="l">
              <a:spcBef>
                <a:spcPts val="318"/>
              </a:spcBef>
              <a:spcAft>
                <a:spcPts val="0"/>
              </a:spcAft>
              <a:buSzPts val="1400"/>
              <a:buNone/>
              <a:defRPr sz="159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228600" algn="l">
              <a:spcBef>
                <a:spcPts val="318"/>
              </a:spcBef>
              <a:spcAft>
                <a:spcPts val="0"/>
              </a:spcAft>
              <a:buSzPts val="1400"/>
              <a:buNone/>
              <a:defRPr sz="159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228600" algn="l">
              <a:spcBef>
                <a:spcPts val="318"/>
              </a:spcBef>
              <a:spcAft>
                <a:spcPts val="0"/>
              </a:spcAft>
              <a:buSzPts val="1400"/>
              <a:buNone/>
              <a:defRPr sz="159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228600" algn="l">
              <a:spcBef>
                <a:spcPts val="318"/>
              </a:spcBef>
              <a:spcAft>
                <a:spcPts val="0"/>
              </a:spcAft>
              <a:buSzPts val="1400"/>
              <a:buNone/>
              <a:defRPr sz="159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30" name="Google Shape;30;p8">
            <a:extLst>
              <a:ext uri="{FF2B5EF4-FFF2-40B4-BE49-F238E27FC236}">
                <a16:creationId xmlns:a16="http://schemas.microsoft.com/office/drawing/2014/main" id="{53FB1EC2-DDAD-4FA5-934B-4FAFFB511FE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530639" y="1169331"/>
            <a:ext cx="4573180" cy="55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7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228600" algn="l">
              <a:spcBef>
                <a:spcPts val="270"/>
              </a:spcBef>
              <a:spcAft>
                <a:spcPts val="0"/>
              </a:spcAft>
              <a:buSzPts val="1400"/>
              <a:buNone/>
              <a:defRPr sz="1352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228600" algn="l">
              <a:spcBef>
                <a:spcPts val="270"/>
              </a:spcBef>
              <a:spcAft>
                <a:spcPts val="0"/>
              </a:spcAft>
              <a:buSzPts val="1400"/>
              <a:buNone/>
              <a:defRPr sz="1352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228600" algn="l">
              <a:spcBef>
                <a:spcPts val="270"/>
              </a:spcBef>
              <a:spcAft>
                <a:spcPts val="0"/>
              </a:spcAft>
              <a:buSzPts val="1400"/>
              <a:buNone/>
              <a:defRPr sz="1352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228600" algn="l">
              <a:spcBef>
                <a:spcPts val="270"/>
              </a:spcBef>
              <a:spcAft>
                <a:spcPts val="0"/>
              </a:spcAft>
              <a:buSzPts val="1400"/>
              <a:buNone/>
              <a:defRPr sz="1352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228600" algn="l">
              <a:spcBef>
                <a:spcPts val="318"/>
              </a:spcBef>
              <a:spcAft>
                <a:spcPts val="0"/>
              </a:spcAft>
              <a:buSzPts val="1400"/>
              <a:buNone/>
              <a:defRPr sz="159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228600" algn="l">
              <a:spcBef>
                <a:spcPts val="318"/>
              </a:spcBef>
              <a:spcAft>
                <a:spcPts val="0"/>
              </a:spcAft>
              <a:buSzPts val="1400"/>
              <a:buNone/>
              <a:defRPr sz="159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228600" algn="l">
              <a:spcBef>
                <a:spcPts val="318"/>
              </a:spcBef>
              <a:spcAft>
                <a:spcPts val="0"/>
              </a:spcAft>
              <a:buSzPts val="1400"/>
              <a:buNone/>
              <a:defRPr sz="159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228600" algn="l">
              <a:spcBef>
                <a:spcPts val="318"/>
              </a:spcBef>
              <a:spcAft>
                <a:spcPts val="0"/>
              </a:spcAft>
              <a:buSzPts val="1400"/>
              <a:buNone/>
              <a:defRPr sz="159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31" name="Google Shape;31;p8">
            <a:extLst>
              <a:ext uri="{FF2B5EF4-FFF2-40B4-BE49-F238E27FC236}">
                <a16:creationId xmlns:a16="http://schemas.microsoft.com/office/drawing/2014/main" id="{5AD7D55E-9726-4335-A712-ACB738D5A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00" y="252000"/>
            <a:ext cx="72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">
            <a:extLst>
              <a:ext uri="{FF2B5EF4-FFF2-40B4-BE49-F238E27FC236}">
                <a16:creationId xmlns:a16="http://schemas.microsoft.com/office/drawing/2014/main" id="{D1287A68-47B1-44BD-A45D-C03615930B94}"/>
              </a:ext>
            </a:extLst>
          </p:cNvPr>
          <p:cNvSpPr>
            <a:spLocks noGrp="1"/>
          </p:cNvSpPr>
          <p:nvPr/>
        </p:nvSpPr>
        <p:spPr>
          <a:xfrm>
            <a:off x="9986481" y="216000"/>
            <a:ext cx="453332" cy="360000"/>
          </a:xfrm>
          <a:prstGeom prst="roundRect">
            <a:avLst>
              <a:gd name="adj" fmla="val 16667"/>
            </a:avLst>
          </a:prstGeom>
          <a:noFill/>
          <a:ln w="9525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4"/>
              <a:buFont typeface="Arial"/>
              <a:buNone/>
            </a:pPr>
            <a:fld id="{00000000-1234-1234-1234-123412341234}" type="slidenum">
              <a:rPr sz="1324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‹#›</a:t>
            </a:fld>
            <a:endParaRPr sz="1324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Google Shape;12;p4">
            <a:extLst>
              <a:ext uri="{FF2B5EF4-FFF2-40B4-BE49-F238E27FC236}">
                <a16:creationId xmlns:a16="http://schemas.microsoft.com/office/drawing/2014/main" id="{16C2029E-B2D2-4DCE-B0A1-D146DECF7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00" y="252000"/>
            <a:ext cx="72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750" b="1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69" b="0" i="0" u="none" cap="none">
                <a:solidFill>
                  <a:schemeClr val="dk2"/>
                </a:solidFill>
                <a:latin typeface="MS PGothic"/>
                <a:ea typeface="MS PGothic"/>
                <a:cs typeface="MS PGothic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69" b="0" i="0" u="none" cap="none">
                <a:solidFill>
                  <a:schemeClr val="dk2"/>
                </a:solidFill>
                <a:latin typeface="MS PGothic"/>
                <a:ea typeface="MS PGothic"/>
                <a:cs typeface="MS PGothic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69" b="0" i="0" u="none" cap="none">
                <a:solidFill>
                  <a:schemeClr val="dk2"/>
                </a:solidFill>
                <a:latin typeface="MS PGothic"/>
                <a:ea typeface="MS PGothic"/>
                <a:cs typeface="MS PGothic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69" b="0" i="0" u="none" cap="none">
                <a:solidFill>
                  <a:schemeClr val="dk2"/>
                </a:solidFill>
                <a:latin typeface="MS PGothic"/>
                <a:ea typeface="MS PGothic"/>
                <a:cs typeface="MS PGothic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cap="none">
                <a:solidFill>
                  <a:schemeClr val="dk2"/>
                </a:solidFill>
                <a:latin typeface="MS PGothic"/>
                <a:ea typeface="MS PGothic"/>
                <a:cs typeface="MS PGothic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cap="none">
                <a:solidFill>
                  <a:schemeClr val="dk2"/>
                </a:solidFill>
                <a:latin typeface="MS PGothic"/>
                <a:ea typeface="MS PGothic"/>
                <a:cs typeface="MS PGothic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cap="none">
                <a:solidFill>
                  <a:schemeClr val="dk2"/>
                </a:solidFill>
                <a:latin typeface="MS PGothic"/>
                <a:ea typeface="MS PGothic"/>
                <a:cs typeface="MS PGothic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cap="none">
                <a:solidFill>
                  <a:schemeClr val="dk2"/>
                </a:solidFill>
                <a:latin typeface="MS PGothic"/>
                <a:ea typeface="MS PGothic"/>
                <a:cs typeface="MS PGothic"/>
              </a:defRPr>
            </a:lvl9pPr>
          </a:lstStyle>
          <a:p>
            <a:endParaRPr/>
          </a:p>
        </p:txBody>
      </p:sp>
      <p:cxnSp>
        <p:nvCxnSpPr>
          <p:cNvPr id="28" name="Google Shape;13;p4"/>
          <p:cNvCxnSpPr/>
          <p:nvPr/>
        </p:nvCxnSpPr>
        <p:spPr>
          <a:xfrm>
            <a:off x="233196" y="683407"/>
            <a:ext cx="10225254" cy="0"/>
          </a:xfrm>
          <a:prstGeom prst="straightConnector1">
            <a:avLst/>
          </a:prstGeom>
          <a:ln w="12700" cap="flat">
            <a:solidFill>
              <a:srgbClr val="CC002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">
            <a:extLst>
              <a:ext uri="{FF2B5EF4-FFF2-40B4-BE49-F238E27FC236}">
                <a16:creationId xmlns:a16="http://schemas.microsoft.com/office/drawing/2014/main" id="{6293DD35-E667-D1D4-4A0B-6FC8A7C66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00" y="252000"/>
            <a:ext cx="72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dirty="0">
                <a:latin typeface="BIZ UDPゴシック"/>
                <a:ea typeface="BIZ UDPゴシック"/>
                <a:cs typeface="BIZ UDPゴシック"/>
              </a:rPr>
              <a:t>別紙2. プロジェクトメンバー経歴（</a:t>
            </a:r>
            <a:r>
              <a:rPr dirty="0">
                <a:solidFill>
                  <a:srgbClr val="FF0000"/>
                </a:solidFill>
                <a:latin typeface="BIZ UDPゴシック"/>
                <a:ea typeface="BIZ UDPゴシック"/>
                <a:cs typeface="BIZ UDPゴシック"/>
              </a:rPr>
              <a:t>1</a:t>
            </a:r>
            <a:r>
              <a:rPr dirty="0">
                <a:latin typeface="BIZ UDPゴシック"/>
                <a:ea typeface="BIZ UDPゴシック"/>
                <a:cs typeface="BIZ UDPゴシック"/>
              </a:rPr>
              <a:t>/</a:t>
            </a:r>
            <a:r>
              <a:rPr dirty="0">
                <a:solidFill>
                  <a:srgbClr val="FF0000"/>
                </a:solidFill>
                <a:latin typeface="BIZ UDPゴシック"/>
                <a:ea typeface="BIZ UDPゴシック"/>
                <a:cs typeface="BIZ UDPゴシック"/>
              </a:rPr>
              <a:t>1</a:t>
            </a:r>
            <a:r>
              <a:rPr dirty="0">
                <a:latin typeface="BIZ UDPゴシック"/>
                <a:ea typeface="BIZ UDPゴシック"/>
                <a:cs typeface="BIZ UDPゴシック"/>
              </a:rPr>
              <a:t>）</a:t>
            </a:r>
          </a:p>
        </p:txBody>
      </p:sp>
      <p:graphicFrame>
        <p:nvGraphicFramePr>
          <p:cNvPr id="55" name="表 1"/>
          <p:cNvGraphicFramePr/>
          <p:nvPr>
            <p:extLst>
              <p:ext uri="{D42A27DB-BD31-4B8C-83A1-F6EECF244321}">
                <p14:modId xmlns:p14="http://schemas.microsoft.com/office/powerpoint/2010/main" val="3607563936"/>
              </p:ext>
            </p:extLst>
          </p:nvPr>
        </p:nvGraphicFramePr>
        <p:xfrm>
          <a:off x="2424514" y="918378"/>
          <a:ext cx="7473112" cy="1460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4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r>
                        <a:rPr sz="1200" b="0" i="0" u="none">
                          <a:solidFill>
                            <a:schemeClr val="tx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本プロジェクト役割</a:t>
                      </a:r>
                      <a:endParaRPr sz="1200">
                        <a:solidFill>
                          <a:schemeClr val="tx1"/>
                        </a:solidFill>
                        <a:latin typeface="BIZ UDPゴシック"/>
                        <a:ea typeface="BIZ UDPゴシック"/>
                        <a:cs typeface="BIZ UDPゴシック"/>
                      </a:endParaRPr>
                    </a:p>
                  </a:txBody>
                  <a:tcPr marL="91427" marR="91427" marT="45746" marB="45746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ja-JP" sz="1200" b="0" i="0" u="none" strike="noStrike" kern="1200" baseline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Salesforce</a:t>
                      </a:r>
                      <a:r>
                        <a:rPr kumimoji="1" lang="ja-JP" altLang="en-US" sz="1200" b="0" i="0" u="none" strike="noStrike" kern="1200" baseline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キーマン</a:t>
                      </a:r>
                      <a:endParaRPr sz="1200" dirty="0">
                        <a:solidFill>
                          <a:schemeClr val="tx1"/>
                        </a:solidFill>
                        <a:latin typeface="BIZ UDPゴシック"/>
                        <a:ea typeface="BIZ UDPゴシック"/>
                        <a:cs typeface="BIZ UDPゴシック"/>
                      </a:endParaRPr>
                    </a:p>
                  </a:txBody>
                  <a:tcPr marL="91427" marR="91427" marT="45746" marB="45746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r>
                        <a:rPr sz="1200">
                          <a:latin typeface="BIZ UDPゴシック"/>
                          <a:ea typeface="BIZ UDPゴシック"/>
                          <a:cs typeface="BIZ UDPゴシック"/>
                        </a:rPr>
                        <a:t>⽒名（役職）</a:t>
                      </a:r>
                    </a:p>
                  </a:txBody>
                  <a:tcPr marL="91427" marR="91427" marT="45746" marB="45746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BIZ UDPゴシック"/>
                          <a:ea typeface="BIZ UDPゴシック"/>
                          <a:cs typeface="BIZ UDPゴシック"/>
                        </a:rPr>
                        <a:t>張　文博（チョウ　ブンハク）</a:t>
                      </a:r>
                    </a:p>
                  </a:txBody>
                  <a:tcPr marL="91427" marR="91427" marT="45746" marB="45746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r>
                        <a:rPr sz="1200">
                          <a:latin typeface="BIZ UDPゴシック"/>
                          <a:ea typeface="BIZ UDPゴシック"/>
                          <a:cs typeface="BIZ UDPゴシック"/>
                        </a:rPr>
                        <a:t>主な保有資格</a:t>
                      </a:r>
                    </a:p>
                  </a:txBody>
                  <a:tcPr marL="91427" marR="91427" marT="45746" marB="45746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認定Admin／Platform Developer I／App Builder／MuleSoft Developer</a:t>
                      </a:r>
                      <a:endParaRPr sz="1200">
                        <a:latin typeface="BIZ UDPゴシック"/>
                        <a:ea typeface="BIZ UDPゴシック"/>
                        <a:cs typeface="BIZ UDPゴシック"/>
                      </a:endParaRPr>
                    </a:p>
                  </a:txBody>
                  <a:tcPr marL="91427" marR="91427" marT="45746" marB="45746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r>
                        <a:rPr sz="1200">
                          <a:latin typeface="BIZ UDPゴシック"/>
                          <a:ea typeface="BIZ UDPゴシック"/>
                          <a:cs typeface="BIZ UDPゴシック"/>
                        </a:rPr>
                        <a:t>言語スキル</a:t>
                      </a:r>
                    </a:p>
                  </a:txBody>
                  <a:tcPr marL="91427" marR="91427" marT="45746" marB="45746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latin typeface="BIZ UDPゴシック"/>
                          <a:ea typeface="BIZ UDPゴシック"/>
                          <a:cs typeface="BIZ UDPゴシック"/>
                        </a:rPr>
                        <a:t>日本語：JLPT</a:t>
                      </a:r>
                      <a:r>
                        <a:rPr sz="1200" dirty="0">
                          <a:latin typeface="BIZ UDPゴシック"/>
                          <a:ea typeface="BIZ UDPゴシック"/>
                          <a:cs typeface="BIZ UDPゴシック"/>
                        </a:rPr>
                        <a:t> N1</a:t>
                      </a:r>
                    </a:p>
                  </a:txBody>
                  <a:tcPr marL="91427" marR="91427" marT="45746" marB="45746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6" name="表 2"/>
          <p:cNvGraphicFramePr/>
          <p:nvPr>
            <p:extLst>
              <p:ext uri="{D42A27DB-BD31-4B8C-83A1-F6EECF244321}">
                <p14:modId xmlns:p14="http://schemas.microsoft.com/office/powerpoint/2010/main" val="2203628113"/>
              </p:ext>
            </p:extLst>
          </p:nvPr>
        </p:nvGraphicFramePr>
        <p:xfrm>
          <a:off x="944162" y="2822097"/>
          <a:ext cx="8953464" cy="42289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01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0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25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96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400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u="none">
                          <a:latin typeface="BIZ UDPゴシック"/>
                          <a:ea typeface="BIZ UDPゴシック"/>
                          <a:cs typeface="BIZ UDPゴシック"/>
                        </a:rPr>
                        <a:t>略歴</a:t>
                      </a:r>
                      <a:endParaRPr sz="1100" b="0" i="0" u="none">
                        <a:solidFill>
                          <a:srgbClr val="000000"/>
                        </a:solidFill>
                        <a:latin typeface="BIZ UDPゴシック"/>
                        <a:ea typeface="BIZ UDPゴシック"/>
                        <a:cs typeface="BIZ UDPゴシック"/>
                      </a:endParaRPr>
                    </a:p>
                  </a:txBody>
                  <a:tcPr marL="7495" marR="7495" marT="7496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buFont typeface="Wingdings"/>
                        <a:buNone/>
                      </a:pPr>
                      <a:r>
                        <a:rPr sz="1000" b="0" u="none" dirty="0">
                          <a:latin typeface="BIZ UDPゴシック"/>
                          <a:ea typeface="BIZ UDPゴシック"/>
                          <a:cs typeface="BIZ UDPゴシック"/>
                        </a:rPr>
                        <a:t>2018.06～2021.05　</a:t>
                      </a:r>
                      <a:r>
                        <a:rPr sz="1000" b="0" u="none" dirty="0" err="1">
                          <a:latin typeface="BIZ UDPゴシック"/>
                          <a:ea typeface="BIZ UDPゴシック"/>
                          <a:cs typeface="BIZ UDPゴシック"/>
                        </a:rPr>
                        <a:t>信華信（大連</a:t>
                      </a:r>
                      <a:r>
                        <a:rPr sz="1000" b="0" u="none" dirty="0">
                          <a:latin typeface="BIZ UDPゴシック"/>
                          <a:ea typeface="BIZ UDPゴシック"/>
                          <a:cs typeface="BIZ UDPゴシック"/>
                        </a:rPr>
                        <a:t>）　</a:t>
                      </a:r>
                      <a:r>
                        <a:rPr sz="1000" b="0" u="none" dirty="0" err="1">
                          <a:latin typeface="BIZ UDPゴシック"/>
                          <a:ea typeface="BIZ UDPゴシック"/>
                          <a:cs typeface="BIZ UDPゴシック"/>
                        </a:rPr>
                        <a:t>Salesforceエンジニア</a:t>
                      </a:r>
                      <a:endParaRPr sz="1000" b="0" u="none" dirty="0">
                        <a:latin typeface="BIZ UDPゴシック"/>
                        <a:ea typeface="BIZ UDPゴシック"/>
                        <a:cs typeface="BIZ UDPゴシック"/>
                      </a:endParaRPr>
                    </a:p>
                    <a:p>
                      <a:pPr marL="0" indent="0" algn="l">
                        <a:buFont typeface="Wingdings"/>
                        <a:buNone/>
                      </a:pPr>
                      <a:r>
                        <a:rPr sz="1000" b="0" u="none" dirty="0">
                          <a:latin typeface="BIZ UDPゴシック"/>
                          <a:ea typeface="BIZ UDPゴシック"/>
                          <a:cs typeface="BIZ UDPゴシック"/>
                        </a:rPr>
                        <a:t>　</a:t>
                      </a:r>
                      <a:r>
                        <a:rPr sz="1000" b="0" u="none" dirty="0" err="1">
                          <a:latin typeface="BIZ UDPゴシック"/>
                          <a:ea typeface="BIZ UDPゴシック"/>
                          <a:cs typeface="BIZ UDPゴシック"/>
                        </a:rPr>
                        <a:t>開発：Apex、SOQL、</a:t>
                      </a:r>
                      <a:r>
                        <a:rPr lang="en-US" altLang="zh-CN" sz="1000" b="0" i="0" u="none" dirty="0" err="1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Visualforce</a:t>
                      </a:r>
                      <a:endParaRPr sz="1000" b="0" u="none" dirty="0">
                        <a:latin typeface="BIZ UDPゴシック"/>
                        <a:ea typeface="BIZ UDPゴシック"/>
                        <a:cs typeface="BIZ UDPゴシック"/>
                      </a:endParaRPr>
                    </a:p>
                    <a:p>
                      <a:pPr marL="0" indent="0" algn="l">
                        <a:buFont typeface="Wingdings"/>
                        <a:buNone/>
                      </a:pPr>
                      <a:r>
                        <a:rPr sz="1000" b="0" u="none" dirty="0">
                          <a:latin typeface="BIZ UDPゴシック"/>
                          <a:ea typeface="BIZ UDPゴシック"/>
                          <a:cs typeface="BIZ UDPゴシック"/>
                        </a:rPr>
                        <a:t>2021.12～2026.01　</a:t>
                      </a:r>
                      <a:r>
                        <a:rPr sz="1000" b="0" u="none" dirty="0" err="1">
                          <a:latin typeface="BIZ UDPゴシック"/>
                          <a:ea typeface="BIZ UDPゴシック"/>
                          <a:cs typeface="BIZ UDPゴシック"/>
                        </a:rPr>
                        <a:t>アクセンチュア</a:t>
                      </a:r>
                      <a:r>
                        <a:rPr sz="1000" b="0" u="none" dirty="0">
                          <a:latin typeface="BIZ UDPゴシック"/>
                          <a:ea typeface="BIZ UDPゴシック"/>
                          <a:cs typeface="BIZ UDPゴシック"/>
                        </a:rPr>
                        <a:t>　</a:t>
                      </a:r>
                      <a:r>
                        <a:rPr sz="1000" b="0" u="none" dirty="0" err="1">
                          <a:latin typeface="BIZ UDPゴシック"/>
                          <a:ea typeface="BIZ UDPゴシック"/>
                          <a:cs typeface="BIZ UDPゴシック"/>
                        </a:rPr>
                        <a:t>Salesforceエンジニア</a:t>
                      </a:r>
                      <a:r>
                        <a:rPr sz="1000" b="0" u="none" dirty="0">
                          <a:latin typeface="BIZ UDPゴシック"/>
                          <a:ea typeface="BIZ UDPゴシック"/>
                          <a:cs typeface="BIZ UDPゴシック"/>
                        </a:rPr>
                        <a:t> / </a:t>
                      </a:r>
                      <a:r>
                        <a:rPr sz="1000" b="0" u="none" dirty="0" err="1">
                          <a:latin typeface="BIZ UDPゴシック"/>
                          <a:ea typeface="BIZ UDPゴシック"/>
                          <a:cs typeface="BIZ UDPゴシック"/>
                        </a:rPr>
                        <a:t>チームリード</a:t>
                      </a:r>
                      <a:endParaRPr sz="1000" b="0" u="none" dirty="0">
                        <a:latin typeface="BIZ UDPゴシック"/>
                        <a:ea typeface="BIZ UDPゴシック"/>
                        <a:cs typeface="BIZ UDPゴシック"/>
                      </a:endParaRPr>
                    </a:p>
                    <a:p>
                      <a:pPr marL="0" indent="0" algn="l">
                        <a:buFont typeface="Wingdings"/>
                        <a:buNone/>
                      </a:pPr>
                      <a:r>
                        <a:rPr sz="1000" b="0" u="none" dirty="0">
                          <a:latin typeface="BIZ UDPゴシック"/>
                          <a:ea typeface="BIZ UDPゴシック"/>
                          <a:cs typeface="BIZ UDPゴシック"/>
                        </a:rPr>
                        <a:t>　</a:t>
                      </a:r>
                      <a:r>
                        <a:rPr sz="1000" b="0" u="none" dirty="0" err="1">
                          <a:latin typeface="BIZ UDPゴシック"/>
                          <a:ea typeface="BIZ UDPゴシック"/>
                          <a:cs typeface="BIZ UDPゴシック"/>
                        </a:rPr>
                        <a:t>開発：Apex、LWC、Node.js、AWS、MuleSoft</a:t>
                      </a:r>
                      <a:endParaRPr sz="1000" b="0" u="none" dirty="0">
                        <a:latin typeface="BIZ UDPゴシック"/>
                        <a:ea typeface="BIZ UDPゴシック"/>
                        <a:cs typeface="BIZ UDPゴシック"/>
                      </a:endParaRPr>
                    </a:p>
                    <a:p>
                      <a:pPr marL="0" indent="0" algn="l">
                        <a:buFont typeface="Wingdings"/>
                        <a:buNone/>
                      </a:pPr>
                      <a:r>
                        <a:rPr sz="1000" b="0" u="none" dirty="0">
                          <a:latin typeface="BIZ UDPゴシック"/>
                          <a:ea typeface="BIZ UDPゴシック"/>
                          <a:cs typeface="BIZ UDPゴシック"/>
                        </a:rPr>
                        <a:t>2026.07～現在　</a:t>
                      </a:r>
                      <a:r>
                        <a:rPr sz="1000" b="0" u="none" dirty="0" err="1">
                          <a:latin typeface="BIZ UDPゴシック"/>
                          <a:ea typeface="BIZ UDPゴシック"/>
                          <a:cs typeface="BIZ UDPゴシック"/>
                        </a:rPr>
                        <a:t>AI活用による</a:t>
                      </a:r>
                      <a:r>
                        <a:rPr sz="1000" b="0" u="none" dirty="0">
                          <a:latin typeface="BIZ UDPゴシック"/>
                          <a:ea typeface="BIZ UDPゴシック"/>
                          <a:cs typeface="BIZ UDPゴシック"/>
                        </a:rPr>
                        <a:t> Experience Cloud FAQ Site </a:t>
                      </a:r>
                      <a:r>
                        <a:rPr sz="1000" b="0" u="none" dirty="0" err="1">
                          <a:latin typeface="BIZ UDPゴシック"/>
                          <a:ea typeface="BIZ UDPゴシック"/>
                          <a:cs typeface="BIZ UDPゴシック"/>
                        </a:rPr>
                        <a:t>開発</a:t>
                      </a:r>
                      <a:endParaRPr sz="1000" b="0" u="none" dirty="0">
                        <a:latin typeface="BIZ UDPゴシック"/>
                        <a:ea typeface="BIZ UDPゴシック"/>
                        <a:cs typeface="BIZ UDPゴシック"/>
                      </a:endParaRPr>
                    </a:p>
                    <a:p>
                      <a:pPr marL="0" indent="0" algn="l">
                        <a:buFont typeface="Wingdings"/>
                        <a:buNone/>
                      </a:pPr>
                      <a:r>
                        <a:rPr sz="1000" b="0" u="none" dirty="0">
                          <a:latin typeface="BIZ UDPゴシック"/>
                          <a:ea typeface="BIZ UDPゴシック"/>
                          <a:cs typeface="BIZ UDPゴシック"/>
                        </a:rPr>
                        <a:t>　</a:t>
                      </a:r>
                      <a:r>
                        <a:rPr sz="1000" b="0" u="none" dirty="0" err="1">
                          <a:latin typeface="BIZ UDPゴシック"/>
                          <a:ea typeface="BIZ UDPゴシック"/>
                          <a:cs typeface="BIZ UDPゴシック"/>
                        </a:rPr>
                        <a:t>開発：Salesforce</a:t>
                      </a:r>
                      <a:r>
                        <a:rPr sz="1000" b="0" u="none" dirty="0">
                          <a:latin typeface="BIZ UDPゴシック"/>
                          <a:ea typeface="BIZ UDPゴシック"/>
                          <a:cs typeface="BIZ UDPゴシック"/>
                        </a:rPr>
                        <a:t> </a:t>
                      </a:r>
                      <a:r>
                        <a:rPr sz="1000" b="0" u="none" dirty="0" err="1">
                          <a:latin typeface="BIZ UDPゴシック"/>
                          <a:ea typeface="BIZ UDPゴシック"/>
                          <a:cs typeface="BIZ UDPゴシック"/>
                        </a:rPr>
                        <a:t>Knowledge、Experience</a:t>
                      </a:r>
                      <a:r>
                        <a:rPr sz="1000" b="0" u="none" dirty="0">
                          <a:latin typeface="BIZ UDPゴシック"/>
                          <a:ea typeface="BIZ UDPゴシック"/>
                          <a:cs typeface="BIZ UDPゴシック"/>
                        </a:rPr>
                        <a:t> </a:t>
                      </a:r>
                      <a:r>
                        <a:rPr sz="1000" b="0" u="none" dirty="0" err="1">
                          <a:latin typeface="BIZ UDPゴシック"/>
                          <a:ea typeface="BIZ UDPゴシック"/>
                          <a:cs typeface="BIZ UDPゴシック"/>
                        </a:rPr>
                        <a:t>Cloud、LWC、Data</a:t>
                      </a:r>
                      <a:r>
                        <a:rPr sz="1000" b="0" u="none" dirty="0">
                          <a:latin typeface="BIZ UDPゴシック"/>
                          <a:ea typeface="BIZ UDPゴシック"/>
                          <a:cs typeface="BIZ UDPゴシック"/>
                        </a:rPr>
                        <a:t> </a:t>
                      </a:r>
                      <a:r>
                        <a:rPr sz="1000" b="0" u="none" dirty="0" err="1">
                          <a:latin typeface="BIZ UDPゴシック"/>
                          <a:ea typeface="BIZ UDPゴシック"/>
                          <a:cs typeface="BIZ UDPゴシック"/>
                        </a:rPr>
                        <a:t>Category、Custom</a:t>
                      </a:r>
                      <a:r>
                        <a:rPr sz="1000" b="0" u="none" dirty="0">
                          <a:latin typeface="BIZ UDPゴシック"/>
                          <a:ea typeface="BIZ UDPゴシック"/>
                          <a:cs typeface="BIZ UDPゴシック"/>
                        </a:rPr>
                        <a:t> Report</a:t>
                      </a:r>
                    </a:p>
                  </a:txBody>
                  <a:tcPr marL="7495" marR="7495" marT="7496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759">
                <a:tc rowSpan="9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u="none">
                          <a:latin typeface="BIZ UDPゴシック"/>
                          <a:ea typeface="BIZ UDPゴシック"/>
                          <a:cs typeface="BIZ UDPゴシック"/>
                        </a:rPr>
                        <a:t>主なプロジェクト経験</a:t>
                      </a:r>
                    </a:p>
                    <a:p>
                      <a:pPr algn="l">
                        <a:buNone/>
                      </a:pPr>
                      <a:endParaRPr sz="900" b="0" i="0" u="none">
                        <a:solidFill>
                          <a:srgbClr val="000000"/>
                        </a:solidFill>
                        <a:latin typeface="BIZ UDPゴシック"/>
                        <a:ea typeface="BIZ UDPゴシック"/>
                        <a:cs typeface="BIZ UDPゴシック"/>
                      </a:endParaRP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※上から時系列順</a:t>
                      </a:r>
                    </a:p>
                    <a:p>
                      <a:pPr algn="l">
                        <a:buNone/>
                      </a:pPr>
                      <a:endParaRPr sz="900" b="0" i="0" u="none">
                        <a:solidFill>
                          <a:srgbClr val="000000"/>
                        </a:solidFill>
                        <a:latin typeface="BIZ UDPゴシック"/>
                        <a:ea typeface="BIZ UDPゴシック"/>
                        <a:cs typeface="BIZ UDPゴシック"/>
                      </a:endParaRPr>
                    </a:p>
                  </a:txBody>
                  <a:tcPr marL="7495" marR="7495" marT="7496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業界</a:t>
                      </a:r>
                    </a:p>
                  </a:txBody>
                  <a:tcPr marL="7495" marR="7495" marT="7496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u="none">
                          <a:latin typeface="BIZ UDPゴシック"/>
                          <a:ea typeface="BIZ UDPゴシック"/>
                          <a:cs typeface="BIZ UDPゴシック"/>
                        </a:rPr>
                        <a:t>プロジェクト</a:t>
                      </a:r>
                      <a:endParaRPr sz="1000" b="0" i="0" u="none">
                        <a:solidFill>
                          <a:srgbClr val="000000"/>
                        </a:solidFill>
                        <a:latin typeface="BIZ UDPゴシック"/>
                        <a:ea typeface="BIZ UDPゴシック"/>
                        <a:cs typeface="BIZ UDPゴシック"/>
                      </a:endParaRPr>
                    </a:p>
                  </a:txBody>
                  <a:tcPr marL="7495" marR="7495" marT="7496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u="none">
                          <a:latin typeface="BIZ UDPゴシック"/>
                          <a:ea typeface="BIZ UDPゴシック"/>
                          <a:cs typeface="BIZ UDPゴシック"/>
                        </a:rPr>
                        <a:t>役割　</a:t>
                      </a:r>
                      <a:endParaRPr sz="1000" b="0" i="0" u="none">
                        <a:solidFill>
                          <a:srgbClr val="000000"/>
                        </a:solidFill>
                        <a:latin typeface="BIZ UDPゴシック"/>
                        <a:ea typeface="BIZ UDPゴシック"/>
                        <a:cs typeface="BIZ UDPゴシック"/>
                      </a:endParaRPr>
                    </a:p>
                  </a:txBody>
                  <a:tcPr marL="7495" marR="7495" marT="7496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22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自動車</a:t>
                      </a:r>
                    </a:p>
                  </a:txBody>
                  <a:tcPr marL="7495" marR="7495" marT="7496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 b="0" i="0" u="none" dirty="0" err="1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トヨタ自動車：CRMシステム再構築（Visualforce</a:t>
                      </a:r>
                      <a:r>
                        <a:rPr sz="1000" b="0" i="0" u="none" dirty="0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 / Apex）</a:t>
                      </a:r>
                    </a:p>
                  </a:txBody>
                  <a:tcPr marL="7495" marR="7495" marT="7496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SE</a:t>
                      </a:r>
                    </a:p>
                  </a:txBody>
                  <a:tcPr marL="7495" marR="7495" marT="7496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221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sz="1000" b="0" i="0" u="none">
                        <a:solidFill>
                          <a:srgbClr val="000000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495" marR="7495" marT="749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損害保険</a:t>
                      </a:r>
                    </a:p>
                  </a:txBody>
                  <a:tcPr marL="7495" marR="7495" marT="7496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u="none">
                          <a:latin typeface="BIZ UDPゴシック"/>
                          <a:ea typeface="BIZ UDPゴシック"/>
                          <a:cs typeface="BIZ UDPゴシック"/>
                        </a:rPr>
                        <a:t>東京海上日動：業務ロジック開発・システム連携（Apex / SOQL / MuleSoft）</a:t>
                      </a:r>
                    </a:p>
                  </a:txBody>
                  <a:tcPr marL="7495" marR="7495" marT="7496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SE</a:t>
                      </a:r>
                    </a:p>
                  </a:txBody>
                  <a:tcPr marL="7495" marR="7495" marT="7496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221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sz="1000" b="0" i="0" u="none">
                        <a:solidFill>
                          <a:srgbClr val="000000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495" marR="7495" marT="749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生命保険</a:t>
                      </a:r>
                    </a:p>
                  </a:txBody>
                  <a:tcPr marL="7495" marR="7495" marT="7496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 b="0" u="none">
                          <a:latin typeface="BIZ UDPゴシック"/>
                          <a:ea typeface="BIZ UDPゴシック"/>
                          <a:cs typeface="BIZ UDPゴシック"/>
                        </a:rPr>
                        <a:t>プルデンシャル生命：MyPage CRM開発（Salesforce / LWC / Node.js / AWS）</a:t>
                      </a:r>
                    </a:p>
                  </a:txBody>
                  <a:tcPr marL="7495" marR="7495" marT="7496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SE</a:t>
                      </a:r>
                    </a:p>
                  </a:txBody>
                  <a:tcPr marL="7495" marR="7495" marT="7496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221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sz="1000" b="0" i="0" u="none">
                        <a:solidFill>
                          <a:srgbClr val="000000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495" marR="7495" marT="749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損害保険</a:t>
                      </a:r>
                    </a:p>
                  </a:txBody>
                  <a:tcPr marL="7495" marR="7495" marT="7496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 b="0" u="none">
                          <a:latin typeface="BIZ UDPゴシック"/>
                          <a:ea typeface="BIZ UDPゴシック"/>
                          <a:cs typeface="BIZ UDPゴシック"/>
                        </a:rPr>
                        <a:t>AI活用 Experience Cloud FAQ Site開発（Knowledge / LWC / Data Category / Report）</a:t>
                      </a:r>
                      <a:endParaRPr sz="1000" b="0" i="0" u="none">
                        <a:solidFill>
                          <a:srgbClr val="000000"/>
                        </a:solidFill>
                        <a:latin typeface="BIZ UDPゴシック"/>
                        <a:ea typeface="BIZ UDPゴシック"/>
                        <a:cs typeface="BIZ UDPゴシック"/>
                      </a:endParaRPr>
                    </a:p>
                  </a:txBody>
                  <a:tcPr marL="7495" marR="7495" marT="7496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SE</a:t>
                      </a:r>
                    </a:p>
                  </a:txBody>
                  <a:tcPr marL="7495" marR="7495" marT="7496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221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sz="1000" b="0" i="0" u="none">
                        <a:solidFill>
                          <a:srgbClr val="000000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495" marR="7495" marT="749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7495" marR="7495" marT="7496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dirty="0"/>
                    </a:p>
                  </a:txBody>
                  <a:tcPr marL="7495" marR="7495" marT="7496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7495" marR="7495" marT="7496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5610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sz="1000" b="0" i="0" u="none">
                        <a:solidFill>
                          <a:srgbClr val="000000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495" marR="7495" marT="749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7495" marR="7495" marT="7496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000" b="0" i="0" u="none" cap="none">
                        <a:solidFill>
                          <a:schemeClr val="dk1"/>
                        </a:solidFill>
                        <a:latin typeface="BIZ UDPゴシック"/>
                        <a:ea typeface="BIZ UDPゴシック"/>
                        <a:cs typeface="BIZ UDPゴシック"/>
                      </a:endParaRPr>
                    </a:p>
                  </a:txBody>
                  <a:tcPr marL="7495" marR="7495" marT="7496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7495" marR="7495" marT="7496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1221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sz="1000" b="0" i="0" u="none">
                        <a:solidFill>
                          <a:srgbClr val="000000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495" marR="7495" marT="749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000" b="0" i="0" u="none">
                        <a:solidFill>
                          <a:srgbClr val="000000"/>
                        </a:solidFill>
                        <a:latin typeface="BIZ UDPゴシック"/>
                        <a:ea typeface="BIZ UDPゴシック"/>
                        <a:cs typeface="BIZ UDPゴシック"/>
                      </a:endParaRPr>
                    </a:p>
                  </a:txBody>
                  <a:tcPr marL="7495" marR="7495" marT="7496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000" b="0" i="0" u="none">
                        <a:solidFill>
                          <a:srgbClr val="000000"/>
                        </a:solidFill>
                        <a:latin typeface="BIZ UDPゴシック"/>
                        <a:ea typeface="BIZ UDPゴシック"/>
                        <a:cs typeface="BIZ UDPゴシック"/>
                      </a:endParaRPr>
                    </a:p>
                  </a:txBody>
                  <a:tcPr marL="7495" marR="7495" marT="7496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000" b="0" i="0" u="none">
                        <a:solidFill>
                          <a:srgbClr val="000000"/>
                        </a:solidFill>
                        <a:latin typeface="BIZ UDPゴシック"/>
                        <a:ea typeface="BIZ UDPゴシック"/>
                        <a:cs typeface="BIZ UDPゴシック"/>
                      </a:endParaRPr>
                    </a:p>
                  </a:txBody>
                  <a:tcPr marL="7495" marR="7495" marT="7496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1221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sz="1000" b="0" i="0" u="none">
                        <a:solidFill>
                          <a:srgbClr val="000000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495" marR="7495" marT="749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000" b="0" i="0" u="none">
                        <a:solidFill>
                          <a:srgbClr val="000000"/>
                        </a:solidFill>
                        <a:latin typeface="BIZ UDPゴシック"/>
                        <a:ea typeface="BIZ UDPゴシック"/>
                        <a:cs typeface="BIZ UDPゴシック"/>
                      </a:endParaRPr>
                    </a:p>
                  </a:txBody>
                  <a:tcPr marL="7495" marR="7495" marT="7496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000" b="0" i="0" u="none">
                        <a:solidFill>
                          <a:srgbClr val="000000"/>
                        </a:solidFill>
                        <a:latin typeface="BIZ UDPゴシック"/>
                        <a:ea typeface="BIZ UDPゴシック"/>
                        <a:cs typeface="BIZ UDPゴシック"/>
                      </a:endParaRPr>
                    </a:p>
                  </a:txBody>
                  <a:tcPr marL="7495" marR="7495" marT="7496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000" b="0" i="0" u="none" dirty="0">
                        <a:solidFill>
                          <a:srgbClr val="000000"/>
                        </a:solidFill>
                        <a:latin typeface="BIZ UDPゴシック"/>
                        <a:ea typeface="BIZ UDPゴシック"/>
                        <a:cs typeface="BIZ UDPゴシック"/>
                      </a:endParaRPr>
                    </a:p>
                  </a:txBody>
                  <a:tcPr marL="7495" marR="7495" marT="7496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08B157E1-A70D-25D3-4833-2D3B4DA701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62" y="875209"/>
            <a:ext cx="1080000" cy="1503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385866"/>
      </p:ext>
    </p:extLst>
  </p:cSld>
  <p:clrMapOvr>
    <a:masterClrMapping/>
  </p:clrMapOvr>
</p:sld>
</file>

<file path=ppt/theme/theme1.xml><?xml version="1.0" encoding="utf-8"?>
<a:theme xmlns:a="http://schemas.openxmlformats.org/drawingml/2006/main" name="標準デザイン_ノンブル">
  <a:themeElements>
    <a:clrScheme name="sompo">
      <a:dk1>
        <a:srgbClr val="000000"/>
      </a:dk1>
      <a:lt1>
        <a:srgbClr val="FFFFFF"/>
      </a:lt1>
      <a:dk2>
        <a:srgbClr val="A0A3AA"/>
      </a:dk2>
      <a:lt2>
        <a:srgbClr val="DADCDC"/>
      </a:lt2>
      <a:accent1>
        <a:srgbClr val="CC0022"/>
      </a:accent1>
      <a:accent2>
        <a:srgbClr val="ED8B00"/>
      </a:accent2>
      <a:accent3>
        <a:srgbClr val="FCC800"/>
      </a:accent3>
      <a:accent4>
        <a:srgbClr val="009F3A"/>
      </a:accent4>
      <a:accent5>
        <a:srgbClr val="001268"/>
      </a:accent5>
      <a:accent6>
        <a:srgbClr val="826FB0"/>
      </a:accent6>
      <a:hlink>
        <a:srgbClr val="0099FF"/>
      </a:hlink>
      <a:folHlink>
        <a:srgbClr val="99CC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omp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標準デザイン_ノンブル">
  <a:themeElements>
    <a:clrScheme name="sompo">
      <a:dk1>
        <a:srgbClr val="000000"/>
      </a:dk1>
      <a:lt1>
        <a:srgbClr val="FFFFFF"/>
      </a:lt1>
      <a:dk2>
        <a:srgbClr val="A0A3AA"/>
      </a:dk2>
      <a:lt2>
        <a:srgbClr val="DADCDC"/>
      </a:lt2>
      <a:accent1>
        <a:srgbClr val="CC0022"/>
      </a:accent1>
      <a:accent2>
        <a:srgbClr val="ED8B00"/>
      </a:accent2>
      <a:accent3>
        <a:srgbClr val="FCC800"/>
      </a:accent3>
      <a:accent4>
        <a:srgbClr val="009F3A"/>
      </a:accent4>
      <a:accent5>
        <a:srgbClr val="001268"/>
      </a:accent5>
      <a:accent6>
        <a:srgbClr val="826FB0"/>
      </a:accent6>
      <a:hlink>
        <a:srgbClr val="0099FF"/>
      </a:hlink>
      <a:folHlink>
        <a:srgbClr val="99CC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omp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219</Words>
  <Application>Microsoft Office PowerPoint</Application>
  <DocSecurity>0</DocSecurity>
  <PresentationFormat>自定义</PresentationFormat>
  <Paragraphs>39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Wingdings</vt:lpstr>
      <vt:lpstr>Arial</vt:lpstr>
      <vt:lpstr>Calibri</vt:lpstr>
      <vt:lpstr>BIZ UDPゴシック</vt:lpstr>
      <vt:lpstr>標準デザイン_ノンブル</vt:lpstr>
      <vt:lpstr>別紙2. プロジェクトメンバー経歴（1/1）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文博 张</cp:lastModifiedBy>
  <cp:revision>5</cp:revision>
  <dcterms:created xsi:type="dcterms:W3CDTF">2026-08-22T07:18:18Z</dcterms:created>
  <dcterms:modified xsi:type="dcterms:W3CDTF">2026-08-22T07:38:37Z</dcterms:modified>
</cp:coreProperties>
</file>